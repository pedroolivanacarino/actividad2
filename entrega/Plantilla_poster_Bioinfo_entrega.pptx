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265" r:id="rId5"/>
  </p:sldIdLst>
  <p:sldSz cx="15119350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B4AE"/>
    <a:srgbClr val="B3CDE3"/>
    <a:srgbClr val="4196C9"/>
    <a:srgbClr val="59C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DDD315-089E-E37B-A495-511B1231D58C}" v="22" dt="2025-12-18T10:14:43.9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97"/>
    <p:restoredTop sz="85461" autoAdjust="0"/>
  </p:normalViewPr>
  <p:slideViewPr>
    <p:cSldViewPr snapToGrid="0">
      <p:cViewPr varScale="1">
        <p:scale>
          <a:sx n="33" d="100"/>
          <a:sy n="33" d="100"/>
        </p:scale>
        <p:origin x="377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55D09-616C-43ED-8E97-0DB01EE4512E}" type="datetimeFigureOut">
              <a:rPr lang="es-ES" smtClean="0"/>
              <a:t>18/12/25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7F0DFD-83F4-4E62-A3FD-795A97A7E9C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002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EF505-C871-9F35-F788-AB611EE64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A49A6EE-6A98-DFF0-9586-88937B40BC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A97E14F-2ADF-588C-D913-A1DCD18EE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F5C0EB-C32A-7BBA-1734-95ADC9002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7F0DFD-83F4-4E62-A3FD-795A97A7E9C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7952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9784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148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98851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18/12/25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170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18/12/25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32023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18/12/25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92796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18/12/25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42561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18/12/25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4848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18/12/25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77565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3612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07249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DA1BBD-1589-104E-89D9-FD291A5EDB06}" type="datetimeFigureOut">
              <a:rPr lang="es-ES_tradnl" smtClean="0"/>
              <a:t>18/12/25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3253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4000">
              <a:schemeClr val="bg1"/>
            </a:gs>
            <a:gs pos="99000">
              <a:srgbClr val="59C2E3">
                <a:alpha val="25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6FAAFA-3017-B70F-ACF8-D12D5B2C2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07D316A0-A169-6A76-02F7-1BBF2B85C2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07596" y="7336997"/>
            <a:ext cx="14668990" cy="9782603"/>
            <a:chOff x="225180" y="8290675"/>
            <a:chExt cx="14668990" cy="9782603"/>
          </a:xfrm>
        </p:grpSpPr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AFB9D564-4260-AFFB-3804-1306590C737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5180" y="8607196"/>
              <a:ext cx="14668990" cy="9466082"/>
            </a:xfrm>
            <a:prstGeom prst="roundRect">
              <a:avLst>
                <a:gd name="adj" fmla="val 1988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18269D37-FBD1-2175-82D7-306A8DEF48B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258" y="8290675"/>
              <a:ext cx="5838092" cy="565659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RESULTADOS</a:t>
              </a:r>
            </a:p>
          </p:txBody>
        </p:sp>
      </p:grpSp>
      <p:pic>
        <p:nvPicPr>
          <p:cNvPr id="52" name="Imagen 51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45EC0314-B741-E477-12CC-66AD6549F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97" y="11991573"/>
            <a:ext cx="4859436" cy="428913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6" name="Imagen 25" descr="Gráfico, Gráfico de cajas y bigotes&#10;&#10;El contenido generado por IA puede ser incorrecto.">
            <a:extLst>
              <a:ext uri="{FF2B5EF4-FFF2-40B4-BE49-F238E27FC236}">
                <a16:creationId xmlns:a16="http://schemas.microsoft.com/office/drawing/2014/main" id="{CE917535-0F66-1128-8C54-0E14AF5D3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34" y="12076113"/>
            <a:ext cx="4471999" cy="4204597"/>
          </a:xfrm>
          <a:prstGeom prst="rect">
            <a:avLst/>
          </a:prstGeom>
        </p:spPr>
      </p:pic>
      <p:pic>
        <p:nvPicPr>
          <p:cNvPr id="20" name="Imagen 19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D9A6A9A0-A5E6-306D-8387-5D8E485711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090" y="8023309"/>
            <a:ext cx="4519318" cy="322597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F8AB2DB1-641C-B14E-8C06-DC06F9DC7F95}"/>
              </a:ext>
            </a:extLst>
          </p:cNvPr>
          <p:cNvGrpSpPr/>
          <p:nvPr/>
        </p:nvGrpSpPr>
        <p:grpSpPr>
          <a:xfrm>
            <a:off x="225180" y="5096572"/>
            <a:ext cx="14651405" cy="2155479"/>
            <a:chOff x="225180" y="6110487"/>
            <a:chExt cx="14651405" cy="2155479"/>
          </a:xfrm>
        </p:grpSpPr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D94DD604-1D68-C53C-ABAC-2626E5E7F92D}"/>
                </a:ext>
              </a:extLst>
            </p:cNvPr>
            <p:cNvSpPr/>
            <p:nvPr/>
          </p:nvSpPr>
          <p:spPr>
            <a:xfrm>
              <a:off x="225180" y="6250635"/>
              <a:ext cx="14651405" cy="2015331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360000" rIns="91440" bIns="45720" rtlCol="0" anchor="t"/>
            <a:lstStyle/>
            <a:p>
              <a:pPr algn="just" fontAlgn="t"/>
              <a:r>
                <a:rPr lang="es-E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Las muestras de ARN se filtraron y evaluaron en calidad con </a:t>
              </a:r>
              <a:r>
                <a:rPr lang="es-ES" sz="1600" i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FastQC</a:t>
              </a:r>
              <a:r>
                <a:rPr lang="es-E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y </a:t>
              </a:r>
              <a:r>
                <a:rPr lang="es-ES" sz="1600" i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fastp</a:t>
              </a:r>
              <a:r>
                <a:rPr lang="es-E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para eliminar lecturas de baja calidad. La cuantificación de la expresión génica se realizó con </a:t>
              </a:r>
              <a:r>
                <a:rPr lang="es-ES" sz="16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Salmon</a:t>
              </a:r>
              <a:r>
                <a:rPr lang="es-E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y los datos se integraron en R mediante </a:t>
              </a:r>
              <a:r>
                <a:rPr lang="es-ES" sz="1600" i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tximport</a:t>
              </a:r>
              <a:r>
                <a:rPr lang="es-E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El análisis diferencial entre los grupos Obeso2 y </a:t>
              </a:r>
              <a:r>
                <a:rPr lang="es-ES" sz="16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Normopeso</a:t>
              </a:r>
              <a:r>
                <a:rPr lang="es-E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se llevó a cabo con </a:t>
              </a:r>
              <a:r>
                <a:rPr lang="es-ES" sz="16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DESeq2</a:t>
              </a:r>
              <a:r>
                <a:rPr lang="es-E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identificando los genes con cambios significativos. Además, se aplicó un análisis de componentes principales (PCA) para validar la separación entre grupos y seleccionar genes clave, seguido de un análisis funcional de enriquecimiento (GO y KEGG) para identificar procesos biológicos y rutas metabólicas alteradas. Los resultados se representaron mediante </a:t>
              </a:r>
              <a:r>
                <a:rPr lang="es-ES" sz="16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volcano</a:t>
              </a:r>
              <a:r>
                <a:rPr lang="es-E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S" sz="16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plot</a:t>
              </a:r>
              <a:r>
                <a:rPr lang="es-E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</a:t>
              </a:r>
              <a:r>
                <a:rPr lang="es-ES" sz="1600" i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EnhancedVolcano</a:t>
              </a:r>
              <a:r>
                <a:rPr lang="es-E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), mapas de calor (</a:t>
              </a:r>
              <a:r>
                <a:rPr lang="es-ES" sz="1600" i="1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pheatmap</a:t>
              </a:r>
              <a:r>
                <a:rPr lang="es-E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y gráficas de enriquecimiento funcional, facilitando la comparación visual de la expresión génica y la interpretación biológica.</a:t>
              </a:r>
            </a:p>
            <a:p>
              <a:pPr algn="just">
                <a:lnSpc>
                  <a:spcPct val="80000"/>
                </a:lnSpc>
              </a:pPr>
              <a:endParaRPr lang="es-ES_tradnl" sz="16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Rectángulo redondeado 14">
              <a:extLst>
                <a:ext uri="{FF2B5EF4-FFF2-40B4-BE49-F238E27FC236}">
                  <a16:creationId xmlns:a16="http://schemas.microsoft.com/office/drawing/2014/main" id="{DFB0B3B3-F2F4-B28E-D659-DAD95353E513}"/>
                </a:ext>
              </a:extLst>
            </p:cNvPr>
            <p:cNvSpPr/>
            <p:nvPr/>
          </p:nvSpPr>
          <p:spPr>
            <a:xfrm>
              <a:off x="500674" y="6110487"/>
              <a:ext cx="5838092" cy="509924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METODOLOGÍA</a:t>
              </a: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D67CB7D1-AF50-FD7F-F57B-47695A3E6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3242" y="-169208"/>
            <a:ext cx="1488483" cy="896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899BBA31-96FB-51DC-9D11-31607E20FE38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-5895"/>
            <a:ext cx="2082800" cy="1411859"/>
            <a:chOff x="0" y="-5895"/>
            <a:chExt cx="4834200" cy="3276938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3C9F0C0A-043C-F245-5E71-244D02517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-5895"/>
              <a:ext cx="4834200" cy="3276938"/>
            </a:xfrm>
            <a:prstGeom prst="rect">
              <a:avLst/>
            </a:prstGeom>
          </p:spPr>
        </p:pic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9F0430A7-3B99-8D59-9EFA-828ADCBD23D3}"/>
                </a:ext>
              </a:extLst>
            </p:cNvPr>
            <p:cNvSpPr/>
            <p:nvPr/>
          </p:nvSpPr>
          <p:spPr>
            <a:xfrm>
              <a:off x="964642" y="1549130"/>
              <a:ext cx="2257529" cy="671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27234BCD-4428-0601-30AB-A93CB4C72FB8}"/>
              </a:ext>
            </a:extLst>
          </p:cNvPr>
          <p:cNvSpPr/>
          <p:nvPr/>
        </p:nvSpPr>
        <p:spPr>
          <a:xfrm>
            <a:off x="629811" y="727338"/>
            <a:ext cx="13722356" cy="2556915"/>
          </a:xfrm>
          <a:prstGeom prst="roundRect">
            <a:avLst>
              <a:gd name="adj" fmla="val 9702"/>
            </a:avLst>
          </a:prstGeom>
          <a:solidFill>
            <a:srgbClr val="4196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1440" bIns="45720" rtlCol="0" anchor="ctr"/>
          <a:lstStyle/>
          <a:p>
            <a:pPr algn="ctr"/>
            <a:r>
              <a:rPr lang="es" sz="36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Análisis de expresión diferencial de genes relacionados con la obesidad mediante RNA-seq</a:t>
            </a:r>
            <a:endParaRPr lang="pt-PT" sz="1600" dirty="0">
              <a:solidFill>
                <a:schemeClr val="bg1"/>
              </a:solidFill>
              <a:latin typeface="Arial"/>
              <a:cs typeface="Arial"/>
            </a:endParaRPr>
          </a:p>
          <a:p>
            <a:pPr algn="ctr">
              <a:lnSpc>
                <a:spcPct val="150000"/>
              </a:lnSpc>
            </a:pPr>
            <a:r>
              <a:rPr lang="es" sz="1500" b="1" dirty="0">
                <a:solidFill>
                  <a:schemeClr val="tx1"/>
                </a:solidFill>
                <a:latin typeface="Arial"/>
                <a:ea typeface="+mn-lt"/>
                <a:cs typeface="+mn-lt"/>
              </a:rPr>
              <a:t>Secuenciación y Ómicas de Próxima Generación</a:t>
            </a:r>
            <a:endParaRPr lang="es-ES_tradnl" sz="1500" b="1" dirty="0">
              <a:solidFill>
                <a:schemeClr val="tx1"/>
              </a:solidFill>
              <a:latin typeface="Arial"/>
              <a:cs typeface="Arial"/>
            </a:endParaRPr>
          </a:p>
          <a:p>
            <a:pPr algn="ctr">
              <a:lnSpc>
                <a:spcPct val="150000"/>
              </a:lnSpc>
            </a:pPr>
            <a:r>
              <a:rPr lang="es-ES_tradnl" i="1" dirty="0">
                <a:solidFill>
                  <a:schemeClr val="bg1"/>
                </a:solidFill>
                <a:latin typeface="Arial"/>
                <a:cs typeface="Arial"/>
              </a:rPr>
              <a:t>Manuel Pérez </a:t>
            </a:r>
            <a:r>
              <a:rPr lang="es-ES_tradnl" i="1" dirty="0" err="1">
                <a:solidFill>
                  <a:schemeClr val="bg1"/>
                </a:solidFill>
                <a:latin typeface="Arial"/>
                <a:cs typeface="Arial"/>
              </a:rPr>
              <a:t>Pérez</a:t>
            </a:r>
            <a:r>
              <a:rPr lang="es-ES_tradnl" i="1" dirty="0">
                <a:solidFill>
                  <a:schemeClr val="bg1"/>
                </a:solidFill>
                <a:latin typeface="Arial"/>
                <a:cs typeface="Arial"/>
              </a:rPr>
              <a:t>, Pedro Oliva Nacarino, Ana Beatriz </a:t>
            </a:r>
            <a:r>
              <a:rPr lang="es-ES_tradnl" i="1" dirty="0" err="1">
                <a:solidFill>
                  <a:schemeClr val="bg1"/>
                </a:solidFill>
                <a:latin typeface="Arial"/>
                <a:cs typeface="Arial"/>
              </a:rPr>
              <a:t>Serafim</a:t>
            </a:r>
            <a:r>
              <a:rPr lang="es-ES_tradnl" i="1" dirty="0">
                <a:solidFill>
                  <a:schemeClr val="bg1"/>
                </a:solidFill>
                <a:latin typeface="Arial"/>
                <a:cs typeface="Arial"/>
              </a:rPr>
              <a:t>, Miguel Ángel García Rueda, Carlos Manzano </a:t>
            </a:r>
            <a:r>
              <a:rPr lang="es-ES_tradnl" i="1" dirty="0" err="1">
                <a:solidFill>
                  <a:schemeClr val="bg1"/>
                </a:solidFill>
                <a:latin typeface="Arial"/>
                <a:cs typeface="Arial"/>
              </a:rPr>
              <a:t>Basalo</a:t>
            </a:r>
            <a:endParaRPr lang="es-ES_tradnl" i="1" dirty="0">
              <a:solidFill>
                <a:schemeClr val="bg1"/>
              </a:solidFill>
              <a:latin typeface="Arial"/>
              <a:cs typeface="Arial"/>
            </a:endParaRPr>
          </a:p>
          <a:p>
            <a:pPr algn="ctr">
              <a:lnSpc>
                <a:spcPct val="150000"/>
              </a:lnSpc>
            </a:pPr>
            <a:r>
              <a:rPr lang="es-ES_tradnl" i="1" dirty="0">
                <a:solidFill>
                  <a:schemeClr val="tx1"/>
                </a:solidFill>
                <a:latin typeface="Arial"/>
                <a:cs typeface="Arial"/>
              </a:rPr>
              <a:t>Grupo 3 Europa</a:t>
            </a: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48A84EC4-0F3A-053C-E121-17271064DD6C}"/>
              </a:ext>
            </a:extLst>
          </p:cNvPr>
          <p:cNvGrpSpPr/>
          <p:nvPr/>
        </p:nvGrpSpPr>
        <p:grpSpPr>
          <a:xfrm>
            <a:off x="203438" y="17203446"/>
            <a:ext cx="9095800" cy="3452841"/>
            <a:chOff x="225181" y="17303689"/>
            <a:chExt cx="9095800" cy="4102312"/>
          </a:xfrm>
        </p:grpSpPr>
        <p:sp>
          <p:nvSpPr>
            <p:cNvPr id="34" name="Rectángulo redondeado 33">
              <a:extLst>
                <a:ext uri="{FF2B5EF4-FFF2-40B4-BE49-F238E27FC236}">
                  <a16:creationId xmlns:a16="http://schemas.microsoft.com/office/drawing/2014/main" id="{39E01436-98E6-3394-C1DC-823DE6957535}"/>
                </a:ext>
              </a:extLst>
            </p:cNvPr>
            <p:cNvSpPr/>
            <p:nvPr/>
          </p:nvSpPr>
          <p:spPr>
            <a:xfrm>
              <a:off x="225181" y="17518894"/>
              <a:ext cx="9095800" cy="3887107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endParaRPr lang="es-ES_tradnl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35" name="Rectángulo redondeado 34">
              <a:extLst>
                <a:ext uri="{FF2B5EF4-FFF2-40B4-BE49-F238E27FC236}">
                  <a16:creationId xmlns:a16="http://schemas.microsoft.com/office/drawing/2014/main" id="{573EF0CF-EC91-4717-4049-D5E2F2C8D8DA}"/>
                </a:ext>
              </a:extLst>
            </p:cNvPr>
            <p:cNvSpPr/>
            <p:nvPr/>
          </p:nvSpPr>
          <p:spPr>
            <a:xfrm>
              <a:off x="518258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DISCUSIÓN</a:t>
              </a: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DA2A223B-3F08-2086-8C90-463590ACD43C}"/>
              </a:ext>
            </a:extLst>
          </p:cNvPr>
          <p:cNvGrpSpPr/>
          <p:nvPr/>
        </p:nvGrpSpPr>
        <p:grpSpPr>
          <a:xfrm>
            <a:off x="9284330" y="17220317"/>
            <a:ext cx="5613222" cy="3312646"/>
            <a:chOff x="7655540" y="17275800"/>
            <a:chExt cx="7327016" cy="3733832"/>
          </a:xfrm>
        </p:grpSpPr>
        <p:sp>
          <p:nvSpPr>
            <p:cNvPr id="37" name="Rectángulo redondeado 36">
              <a:extLst>
                <a:ext uri="{FF2B5EF4-FFF2-40B4-BE49-F238E27FC236}">
                  <a16:creationId xmlns:a16="http://schemas.microsoft.com/office/drawing/2014/main" id="{F6AF62F0-01E7-3901-878B-3E25EBAB3F6B}"/>
                </a:ext>
              </a:extLst>
            </p:cNvPr>
            <p:cNvSpPr/>
            <p:nvPr/>
          </p:nvSpPr>
          <p:spPr>
            <a:xfrm>
              <a:off x="7655540" y="17275800"/>
              <a:ext cx="7327016" cy="3733832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360000" rIns="91440" bIns="45720" rtlCol="0" anchor="t"/>
            <a:lstStyle/>
            <a:p>
              <a:pPr algn="just"/>
              <a:endParaRPr lang="es" sz="1600" dirty="0">
                <a:solidFill>
                  <a:schemeClr val="tx1"/>
                </a:solidFill>
                <a:ea typeface="+mn-lt"/>
                <a:cs typeface="+mn-lt"/>
              </a:endParaRPr>
            </a:p>
            <a:p>
              <a:pPr algn="just"/>
              <a:r>
                <a:rPr lang="es" sz="1600" dirty="0">
                  <a:solidFill>
                    <a:schemeClr val="tx1"/>
                  </a:solidFill>
                  <a:ea typeface="+mn-lt"/>
                  <a:cs typeface="+mn-lt"/>
                </a:rPr>
                <a:t>Este estudio identificó seis genes con expresión diferencial implicados en la regulación del apetito y el balance energético. En general, los resultados son coherentes con investigaciones anteriores y sugieren que las variaciones en la expresión reflejan cambios en vías biológicas fundamentales relacionadas con la obesidad, lo que demuestra que el pipeline empleado (Salmo + DESeq2) es adecuado para detectar cambios </a:t>
              </a:r>
              <a:r>
                <a:rPr lang="es" sz="1600" dirty="0" err="1">
                  <a:solidFill>
                    <a:schemeClr val="tx1"/>
                  </a:solidFill>
                  <a:ea typeface="+mn-lt"/>
                  <a:cs typeface="+mn-lt"/>
                </a:rPr>
                <a:t>transcriptómicos</a:t>
              </a:r>
              <a:r>
                <a:rPr lang="es" sz="1600" dirty="0">
                  <a:solidFill>
                    <a:schemeClr val="tx1"/>
                  </a:solidFill>
                  <a:ea typeface="+mn-lt"/>
                  <a:cs typeface="+mn-lt"/>
                </a:rPr>
                <a:t> asociados a la obesidad. Sin embargo, sería recomendable ampliar el tamaño muestral para confirmar los resultados obtenidos.</a:t>
              </a:r>
              <a:endParaRPr lang="pt-PT" dirty="0">
                <a:solidFill>
                  <a:schemeClr val="tx1"/>
                </a:solidFill>
              </a:endParaRPr>
            </a:p>
            <a:p>
              <a:pPr algn="just"/>
              <a:endParaRPr lang="es" sz="1600" dirty="0">
                <a:solidFill>
                  <a:schemeClr val="tx1"/>
                </a:solidFill>
                <a:ea typeface="+mn-lt"/>
                <a:cs typeface="+mn-lt"/>
              </a:endParaRPr>
            </a:p>
            <a:p>
              <a:pPr algn="just"/>
              <a:endParaRPr lang="es" sz="1600" dirty="0">
                <a:solidFill>
                  <a:schemeClr val="tx1"/>
                </a:solidFill>
                <a:latin typeface="Arial"/>
                <a:ea typeface="Calibri"/>
                <a:cs typeface="Calibri"/>
              </a:endParaRPr>
            </a:p>
            <a:p>
              <a:pPr algn="just">
                <a:lnSpc>
                  <a:spcPct val="80000"/>
                </a:lnSpc>
              </a:pPr>
              <a:endParaRPr lang="es-ES_tradnl" i="1" dirty="0">
                <a:solidFill>
                  <a:schemeClr val="tx1"/>
                </a:solidFill>
              </a:endParaRPr>
            </a:p>
          </p:txBody>
        </p:sp>
        <p:sp>
          <p:nvSpPr>
            <p:cNvPr id="38" name="Rectángulo redondeado 37">
              <a:extLst>
                <a:ext uri="{FF2B5EF4-FFF2-40B4-BE49-F238E27FC236}">
                  <a16:creationId xmlns:a16="http://schemas.microsoft.com/office/drawing/2014/main" id="{499F11C2-557D-6DB4-72ED-D860CDE16459}"/>
                </a:ext>
              </a:extLst>
            </p:cNvPr>
            <p:cNvSpPr/>
            <p:nvPr/>
          </p:nvSpPr>
          <p:spPr>
            <a:xfrm>
              <a:off x="8077933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CONCLUSIONES</a:t>
              </a:r>
            </a:p>
          </p:txBody>
        </p:sp>
      </p:grpSp>
      <p:sp>
        <p:nvSpPr>
          <p:cNvPr id="39" name="Rectángulo redondeado 38">
            <a:extLst>
              <a:ext uri="{FF2B5EF4-FFF2-40B4-BE49-F238E27FC236}">
                <a16:creationId xmlns:a16="http://schemas.microsoft.com/office/drawing/2014/main" id="{85358C12-A2D4-684E-BC0B-D988EB49B367}"/>
              </a:ext>
            </a:extLst>
          </p:cNvPr>
          <p:cNvSpPr/>
          <p:nvPr/>
        </p:nvSpPr>
        <p:spPr>
          <a:xfrm>
            <a:off x="5326333" y="11295512"/>
            <a:ext cx="4530832" cy="69606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1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endParaRPr kumimoji="0" lang="es-ES_tradnl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CE94EA2-AD8D-07B0-8F7B-9BEADF80C417}"/>
              </a:ext>
            </a:extLst>
          </p:cNvPr>
          <p:cNvSpPr txBox="1"/>
          <p:nvPr/>
        </p:nvSpPr>
        <p:spPr>
          <a:xfrm>
            <a:off x="5411000" y="11264831"/>
            <a:ext cx="4361499" cy="6898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s-ES_tradnl" sz="900" b="1" dirty="0">
                <a:solidFill>
                  <a:srgbClr val="4196C9"/>
                </a:solidFill>
                <a:latin typeface="Arial"/>
                <a:cs typeface="Arial"/>
              </a:rPr>
              <a:t>Figura 2. </a:t>
            </a:r>
            <a:r>
              <a:rPr lang="es-ES" sz="900" b="1" dirty="0" err="1">
                <a:latin typeface="Arial"/>
                <a:cs typeface="Arial"/>
              </a:rPr>
              <a:t>Volcano</a:t>
            </a:r>
            <a:r>
              <a:rPr lang="es-ES" sz="900" b="1" dirty="0">
                <a:latin typeface="Arial"/>
                <a:cs typeface="Arial"/>
              </a:rPr>
              <a:t> </a:t>
            </a:r>
            <a:r>
              <a:rPr lang="es-ES" sz="900" b="1" dirty="0" err="1">
                <a:latin typeface="Arial"/>
                <a:cs typeface="Arial"/>
              </a:rPr>
              <a:t>plot</a:t>
            </a:r>
            <a:r>
              <a:rPr lang="es-ES" sz="900" b="1" dirty="0">
                <a:latin typeface="Arial"/>
                <a:cs typeface="Arial"/>
              </a:rPr>
              <a:t>:</a:t>
            </a:r>
            <a:r>
              <a:rPr lang="es-ES" sz="900" dirty="0">
                <a:latin typeface="Arial"/>
                <a:cs typeface="Arial"/>
              </a:rPr>
              <a:t> El gráfico representa los genes diferencialmente expresados entre los grupos Obeso2 y </a:t>
            </a:r>
            <a:r>
              <a:rPr lang="es-ES" sz="900" dirty="0" err="1">
                <a:latin typeface="Arial"/>
                <a:cs typeface="Arial"/>
              </a:rPr>
              <a:t>Normopeso</a:t>
            </a:r>
            <a:r>
              <a:rPr lang="es-ES" sz="900" dirty="0">
                <a:latin typeface="Arial"/>
                <a:cs typeface="Arial"/>
              </a:rPr>
              <a:t>. Destacan genes relevantes como FTO, NTRK2, SIM1 y UBR2.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0AC03CA-8903-9FFA-1E4B-81EE01123005}"/>
              </a:ext>
            </a:extLst>
          </p:cNvPr>
          <p:cNvSpPr txBox="1"/>
          <p:nvPr/>
        </p:nvSpPr>
        <p:spPr>
          <a:xfrm>
            <a:off x="317234" y="17899371"/>
            <a:ext cx="8908725" cy="26263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 fontAlgn="t">
              <a:lnSpc>
                <a:spcPts val="2200"/>
              </a:lnSpc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Se detectaron seis genes con expresión diferencial entre los grupos Obeso2 y </a:t>
            </a:r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Normopeso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. Cuatro genes (FTO, UBR2, SIM1 y MC4R) presentaron mayor expresión en el grupo Obeso2, mientras que NTRK2 y LEP en el grupo </a:t>
            </a:r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Normopeso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. Los genes </a:t>
            </a:r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sobreexpresados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en el grupo Obeso2, como FTO, MC4R y SIM1, están implicados en la regulación del apetito y el metabolismo energético, lo que podría contribuir a las diferencias observadas entre los grupos. Por su parte, la mayor expresión de NTRK2 y LEP en </a:t>
            </a:r>
            <a:r>
              <a:rPr lang="es-ES" sz="1600" dirty="0" err="1">
                <a:latin typeface="Arial" panose="020B0604020202020204" pitchFamily="34" charset="0"/>
                <a:cs typeface="Arial" panose="020B0604020202020204" pitchFamily="34" charset="0"/>
              </a:rPr>
              <a:t>Normopeso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sugiere un papel en el control homeostático del equilibrio energético. El análisis funcional refuerza la participación de estos genes en procesos biológicos y rutas metabólicas clave asociadas a la obesidad.</a:t>
            </a:r>
          </a:p>
          <a:p>
            <a:pPr algn="ctr"/>
            <a:endParaRPr lang="pt-PT" dirty="0"/>
          </a:p>
        </p:txBody>
      </p:sp>
      <p:sp>
        <p:nvSpPr>
          <p:cNvPr id="13" name="Rectángulo redondeado 39">
            <a:extLst>
              <a:ext uri="{FF2B5EF4-FFF2-40B4-BE49-F238E27FC236}">
                <a16:creationId xmlns:a16="http://schemas.microsoft.com/office/drawing/2014/main" id="{115A7B3D-E713-623E-C1EE-FC10AFAC8494}"/>
              </a:ext>
            </a:extLst>
          </p:cNvPr>
          <p:cNvSpPr/>
          <p:nvPr/>
        </p:nvSpPr>
        <p:spPr>
          <a:xfrm>
            <a:off x="12351744" y="13315600"/>
            <a:ext cx="2300709" cy="1641083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t">
              <a:lnSpc>
                <a:spcPct val="150000"/>
              </a:lnSpc>
            </a:pPr>
            <a:r>
              <a:rPr kumimoji="0" lang="es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/>
                <a:ea typeface="+mn-lt"/>
                <a:cs typeface="+mn-lt"/>
              </a:rPr>
              <a:t>Figura 5.</a:t>
            </a:r>
            <a:r>
              <a:rPr lang="es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Boxplot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en donde se  muestran  la expresión diferencial de los gens entre el grupo </a:t>
            </a:r>
            <a:r>
              <a:rPr lang="es-ES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Normpeso</a:t>
            </a:r>
            <a:r>
              <a:rPr lang="es-E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Obeso 2</a:t>
            </a:r>
          </a:p>
          <a:p>
            <a:pPr>
              <a:lnSpc>
                <a:spcPct val="80000"/>
              </a:lnSpc>
              <a:defRPr/>
            </a:pPr>
            <a:endParaRPr lang="es-ES_tradnl" sz="1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14E39FE-1C6A-FC13-3FF2-C7DCAC183894}"/>
              </a:ext>
            </a:extLst>
          </p:cNvPr>
          <p:cNvSpPr txBox="1"/>
          <p:nvPr/>
        </p:nvSpPr>
        <p:spPr>
          <a:xfrm>
            <a:off x="375094" y="20674140"/>
            <a:ext cx="13525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Referencias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Frayling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TM, et al. A common variant in the FTO gene is associated with body mass index and predisposes to childhood and adult obesity. Science. 2007;316(5826):889–894. doi:10.1126/science.1141634.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Zhang Y, et al. Positional cloning of the mouse obese gene and its human homologue. Nature. 1994;372(6505):425–432. doi:10.1038/372425a0.</a:t>
            </a: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4164B4FD-92DD-D33B-91F1-4097883B86C3}"/>
              </a:ext>
            </a:extLst>
          </p:cNvPr>
          <p:cNvGrpSpPr/>
          <p:nvPr/>
        </p:nvGrpSpPr>
        <p:grpSpPr>
          <a:xfrm>
            <a:off x="225180" y="3391717"/>
            <a:ext cx="14646195" cy="1615046"/>
            <a:chOff x="225180" y="3972026"/>
            <a:chExt cx="14646195" cy="1415449"/>
          </a:xfrm>
        </p:grpSpPr>
        <p:sp>
          <p:nvSpPr>
            <p:cNvPr id="42" name="Rectángulo redondeado 7">
              <a:extLst>
                <a:ext uri="{FF2B5EF4-FFF2-40B4-BE49-F238E27FC236}">
                  <a16:creationId xmlns:a16="http://schemas.microsoft.com/office/drawing/2014/main" id="{B549DB05-DA31-1F82-A6B9-FEFEA987D996}"/>
                </a:ext>
              </a:extLst>
            </p:cNvPr>
            <p:cNvSpPr/>
            <p:nvPr/>
          </p:nvSpPr>
          <p:spPr>
            <a:xfrm>
              <a:off x="225180" y="4124305"/>
              <a:ext cx="14646195" cy="126317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marL="0" marR="0" lvl="0" indent="0" algn="just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La obesidad es una enfermedad metabólica compleja que incrementa el riesgo de diabetes tipo 2 y patologías cardiovasculares. El RNA-</a:t>
              </a:r>
              <a:r>
                <a:rPr kumimoji="0" lang="es-E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seq</a:t>
              </a:r>
              <a:r>
                <a:rPr kumimoji="0" lang="es-E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 es una técnica de alto rendimiento que permite analizar y comparar la expresión génica entre diferentes condiciones biológicas. Mediante el análisis diferencial, utilizando herramientas como DESeq2, es posible identificar genes y rutas metabólicas implicadas en la fisiopatología de la obesidad, aportando información relevante para comprender los mecanismos moleculares subyacentes y potenciales dianas terapéuticas.</a:t>
              </a:r>
            </a:p>
          </p:txBody>
        </p:sp>
        <p:sp>
          <p:nvSpPr>
            <p:cNvPr id="43" name="Rectángulo redondeado 6">
              <a:extLst>
                <a:ext uri="{FF2B5EF4-FFF2-40B4-BE49-F238E27FC236}">
                  <a16:creationId xmlns:a16="http://schemas.microsoft.com/office/drawing/2014/main" id="{5DBC565C-BD65-2200-A6A2-7172C3BF55F4}"/>
                </a:ext>
              </a:extLst>
            </p:cNvPr>
            <p:cNvSpPr/>
            <p:nvPr/>
          </p:nvSpPr>
          <p:spPr>
            <a:xfrm>
              <a:off x="496515" y="3972026"/>
              <a:ext cx="5838092" cy="406823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/>
                <a:t>INTRODUCCIÓN</a:t>
              </a:r>
              <a:endParaRPr lang="es-ES_tradnl" sz="2800" b="1" dirty="0"/>
            </a:p>
          </p:txBody>
        </p:sp>
      </p:grpSp>
      <p:pic>
        <p:nvPicPr>
          <p:cNvPr id="7" name="Imagen 6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7DFA3B55-92EC-65CC-9B17-148D7ACAE9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844" y="8023309"/>
            <a:ext cx="4363791" cy="323100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Rectángulo redondeado 38">
            <a:extLst>
              <a:ext uri="{FF2B5EF4-FFF2-40B4-BE49-F238E27FC236}">
                <a16:creationId xmlns:a16="http://schemas.microsoft.com/office/drawing/2014/main" id="{789DBE7D-D733-3DB2-871F-FA3D9A73922C}"/>
              </a:ext>
            </a:extLst>
          </p:cNvPr>
          <p:cNvSpPr/>
          <p:nvPr/>
        </p:nvSpPr>
        <p:spPr>
          <a:xfrm>
            <a:off x="452471" y="11325797"/>
            <a:ext cx="4474537" cy="56565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1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endParaRPr kumimoji="0" lang="es-ES_tradnl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8402658-D317-CAF1-0BA5-092BA899365F}"/>
              </a:ext>
            </a:extLst>
          </p:cNvPr>
          <p:cNvSpPr txBox="1"/>
          <p:nvPr/>
        </p:nvSpPr>
        <p:spPr>
          <a:xfrm>
            <a:off x="536084" y="11315060"/>
            <a:ext cx="4307308" cy="5318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s-ES_tradnl" sz="900" b="1" dirty="0">
                <a:solidFill>
                  <a:srgbClr val="4196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Figura 1, </a:t>
            </a:r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Análisis de Componentes Principales (PCA) de la expresión génica en los grupos </a:t>
            </a:r>
            <a:r>
              <a:rPr lang="es-ES" sz="1000" dirty="0" err="1">
                <a:latin typeface="Arial" panose="020B0604020202020204" pitchFamily="34" charset="0"/>
                <a:cs typeface="Arial" panose="020B0604020202020204" pitchFamily="34" charset="0"/>
              </a:rPr>
              <a:t>Normopeso</a:t>
            </a:r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 y Obeso2.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6" name="Imagen 45" descr="Gráfico, Gráfico de barras, Gráfico de embudo&#10;&#10;El contenido generado por IA puede ser incorrecto.">
            <a:extLst>
              <a:ext uri="{FF2B5EF4-FFF2-40B4-BE49-F238E27FC236}">
                <a16:creationId xmlns:a16="http://schemas.microsoft.com/office/drawing/2014/main" id="{C171E15E-B38C-4AF7-1908-33EDE8C798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99565" y="8023309"/>
            <a:ext cx="4087039" cy="32370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7" name="Rectángulo redondeado 38">
            <a:extLst>
              <a:ext uri="{FF2B5EF4-FFF2-40B4-BE49-F238E27FC236}">
                <a16:creationId xmlns:a16="http://schemas.microsoft.com/office/drawing/2014/main" id="{0D92B242-DA40-2139-331F-B8806EA4F306}"/>
              </a:ext>
            </a:extLst>
          </p:cNvPr>
          <p:cNvSpPr/>
          <p:nvPr/>
        </p:nvSpPr>
        <p:spPr>
          <a:xfrm>
            <a:off x="10364746" y="11302632"/>
            <a:ext cx="4156677" cy="82226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1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endParaRPr kumimoji="0" lang="es-ES_tradnl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DF06B417-F1D5-1490-0ABD-B8DC6BC010D0}"/>
              </a:ext>
            </a:extLst>
          </p:cNvPr>
          <p:cNvSpPr txBox="1"/>
          <p:nvPr/>
        </p:nvSpPr>
        <p:spPr>
          <a:xfrm>
            <a:off x="10431617" y="11331989"/>
            <a:ext cx="4022935" cy="7562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s-ES_tradnl" sz="1000" b="1" dirty="0">
                <a:solidFill>
                  <a:srgbClr val="4196C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Figura 3, </a:t>
            </a:r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Impacto de los 15 genes principales en el primer componente principal (PC1) del PCA. Los valores positivos y negativos indican la dirección de la contribución.</a:t>
            </a:r>
          </a:p>
        </p:txBody>
      </p:sp>
      <p:sp>
        <p:nvSpPr>
          <p:cNvPr id="53" name="Rectángulo redondeado 39">
            <a:extLst>
              <a:ext uri="{FF2B5EF4-FFF2-40B4-BE49-F238E27FC236}">
                <a16:creationId xmlns:a16="http://schemas.microsoft.com/office/drawing/2014/main" id="{FC00693B-7BAA-1450-03EB-8C7452ABCD30}"/>
              </a:ext>
            </a:extLst>
          </p:cNvPr>
          <p:cNvSpPr/>
          <p:nvPr/>
        </p:nvSpPr>
        <p:spPr>
          <a:xfrm>
            <a:off x="452472" y="16376829"/>
            <a:ext cx="4873862" cy="69606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t">
              <a:spcBef>
                <a:spcPts val="600"/>
              </a:spcBef>
            </a:pPr>
            <a:r>
              <a:rPr kumimoji="0" lang="es" sz="105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Figura </a:t>
            </a:r>
            <a:r>
              <a:rPr lang="es" sz="105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4, </a:t>
            </a:r>
            <a:r>
              <a:rPr lang="es-ES" sz="11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Heatmap</a:t>
            </a:r>
            <a:r>
              <a:rPr lang="es-E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expresión génica de los genes seleccionados en los grupos </a:t>
            </a:r>
            <a:r>
              <a:rPr lang="es-E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Normopeso</a:t>
            </a:r>
            <a:r>
              <a:rPr lang="es-E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Obeso2. Los colores reflejan los niveles relativos de expresión.</a:t>
            </a:r>
          </a:p>
          <a:p>
            <a:pPr>
              <a:lnSpc>
                <a:spcPct val="80000"/>
              </a:lnSpc>
              <a:defRPr/>
            </a:pPr>
            <a:endParaRPr lang="es-ES_tradnl" sz="1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8" name="Imagen 7" descr="Gráfico, Gráfico de cajas y bigotes&#10;&#10;El contenido generado por IA puede ser incorrecto.">
            <a:extLst>
              <a:ext uri="{FF2B5EF4-FFF2-40B4-BE49-F238E27FC236}">
                <a16:creationId xmlns:a16="http://schemas.microsoft.com/office/drawing/2014/main" id="{39990105-2C46-3027-C682-41A0C6CC58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21970" y="12251388"/>
            <a:ext cx="6634139" cy="443366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932167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3D7C797EA12745A270EF30E38719B9" ma:contentTypeVersion="20" ma:contentTypeDescription="Crear nuevo documento." ma:contentTypeScope="" ma:versionID="98b23ce13f8ef13134c980882a27b8cc">
  <xsd:schema xmlns:xsd="http://www.w3.org/2001/XMLSchema" xmlns:xs="http://www.w3.org/2001/XMLSchema" xmlns:p="http://schemas.microsoft.com/office/2006/metadata/properties" xmlns:ns2="0a70e875-3d35-4be2-921f-7117c31bab9b" xmlns:ns3="27c1adeb-3674-457c-b08c-8a73f31b6e23" targetNamespace="http://schemas.microsoft.com/office/2006/metadata/properties" ma:root="true" ma:fieldsID="83d50475b18a8f95f7f8edf1c6caa3f2" ns2:_="" ns3:_="">
    <xsd:import namespace="0a70e875-3d35-4be2-921f-7117c31bab9b"/>
    <xsd:import namespace="27c1adeb-3674-457c-b08c-8a73f31b6e2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_Flow_SignoffStatu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0e875-3d35-4be2-921f-7117c31bab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7f67346-78c9-4c4d-b954-8d350fdf60db}" ma:internalName="TaxCatchAll" ma:showField="CatchAllData" ma:web="0a70e875-3d35-4be2-921f-7117c31bab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c1adeb-3674-457c-b08c-8a73f31b6e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17631b59-e624-4eb7-963c-219f14f88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5" nillable="true" ma:displayName="Estado de aprobación" ma:internalName="Estado_x0020_de_x0020_aprobaci_x00f3_n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27c1adeb-3674-457c-b08c-8a73f31b6e23" xsi:nil="true"/>
    <lcf76f155ced4ddcb4097134ff3c332f xmlns="27c1adeb-3674-457c-b08c-8a73f31b6e23">
      <Terms xmlns="http://schemas.microsoft.com/office/infopath/2007/PartnerControls"/>
    </lcf76f155ced4ddcb4097134ff3c332f>
    <TaxCatchAll xmlns="0a70e875-3d35-4be2-921f-7117c31bab9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933766-0056-42DC-9416-E7C06BCFC0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70e875-3d35-4be2-921f-7117c31bab9b"/>
    <ds:schemaRef ds:uri="27c1adeb-3674-457c-b08c-8a73f31b6e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48B5577-5CCE-4E9D-BDFA-952900719EE2}">
  <ds:schemaRefs>
    <ds:schemaRef ds:uri="http://purl.org/dc/terms/"/>
    <ds:schemaRef ds:uri="0a70e875-3d35-4be2-921f-7117c31bab9b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27c1adeb-3674-457c-b08c-8a73f31b6e23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53E95016-93A9-4903-BA02-7A05B5939C7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361ecad-3f61-4749-aa5c-87fde47ef9ad}" enabled="1" method="Privileged" siteId="{22c8b4a4-d926-43b2-bcc7-87b998590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689</Words>
  <Application>Microsoft Macintosh PowerPoint</Application>
  <PresentationFormat>Personalizado</PresentationFormat>
  <Paragraphs>27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 de la O Pascual</dc:creator>
  <cp:lastModifiedBy>Miguel Ángel Garcia Rueda</cp:lastModifiedBy>
  <cp:revision>208</cp:revision>
  <dcterms:created xsi:type="dcterms:W3CDTF">2025-04-21T10:03:24Z</dcterms:created>
  <dcterms:modified xsi:type="dcterms:W3CDTF">2025-12-18T11:30:10Z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0x010100DF3D7C797EA12745A270EF30E38719B9</vt:lpwstr>
  </property>
  <property fmtid="{D5CDD505-2E9C-101B-9397-08002B2CF9AE}" pid="3" name="MediaServiceImageTags">
    <vt:lpwstr/>
  </property>
</Properties>
</file>